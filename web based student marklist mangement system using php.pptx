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0" r:id="rId2"/>
    <p:sldId id="261" r:id="rId3"/>
    <p:sldId id="262" r:id="rId4"/>
    <p:sldId id="270" r:id="rId5"/>
    <p:sldId id="271" r:id="rId6"/>
    <p:sldId id="279" r:id="rId7"/>
    <p:sldId id="263" r:id="rId8"/>
    <p:sldId id="264" r:id="rId9"/>
    <p:sldId id="265" r:id="rId10"/>
    <p:sldId id="266" r:id="rId11"/>
    <p:sldId id="272" r:id="rId12"/>
    <p:sldId id="273" r:id="rId13"/>
    <p:sldId id="274" r:id="rId14"/>
    <p:sldId id="275" r:id="rId15"/>
    <p:sldId id="276" r:id="rId16"/>
    <p:sldId id="277" r:id="rId17"/>
    <p:sldId id="278" r:id="rId18"/>
    <p:sldId id="267" r:id="rId19"/>
    <p:sldId id="268" r:id="rId20"/>
    <p:sldId id="26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191" autoAdjust="0"/>
    <p:restoredTop sz="94660"/>
  </p:normalViewPr>
  <p:slideViewPr>
    <p:cSldViewPr>
      <p:cViewPr varScale="1">
        <p:scale>
          <a:sx n="68" d="100"/>
          <a:sy n="68" d="100"/>
        </p:scale>
        <p:origin x="-129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6/2/2023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6/2/2023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6/2/2023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6/2/2023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52600"/>
            <a:ext cx="8229600" cy="3200400"/>
          </a:xfrm>
        </p:spPr>
        <p:txBody>
          <a:bodyPr>
            <a:normAutofit/>
          </a:bodyPr>
          <a:lstStyle/>
          <a:p>
            <a:pPr algn="ctr"/>
            <a:r>
              <a:rPr lang="en-US" u="sng" dirty="0" smtClean="0">
                <a:latin typeface="Bahnschrift Light Condensed" pitchFamily="34" charset="0"/>
              </a:rPr>
              <a:t>Web Based Student Mark List Management System Using PHP</a:t>
            </a:r>
            <a:br>
              <a:rPr lang="en-US" u="sng" dirty="0" smtClean="0">
                <a:latin typeface="Bahnschrift Light Condensed" pitchFamily="34" charset="0"/>
              </a:rPr>
            </a:br>
            <a:endParaRPr lang="en-US" dirty="0">
              <a:latin typeface="Bahnschrift Light Condensed" pitchFamily="34" charset="0"/>
            </a:endParaRPr>
          </a:p>
        </p:txBody>
      </p:sp>
    </p:spTree>
  </p:cSld>
  <p:clrMapOvr>
    <a:masterClrMapping/>
  </p:clrMapOvr>
  <p:transition spd="med">
    <p:wipe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smtClean="0"/>
              <a:t>PONDICHERRY  UNIVERSITY</a:t>
            </a:r>
            <a:br>
              <a:rPr lang="en-US" sz="4000" b="1" dirty="0" smtClean="0"/>
            </a:br>
            <a:r>
              <a:rPr lang="en-US" sz="4000" b="1" dirty="0" smtClean="0"/>
              <a:t>COMMUNITY  COLLEGE</a:t>
            </a:r>
            <a:endParaRPr lang="en-US" sz="4000" dirty="0"/>
          </a:p>
        </p:txBody>
      </p:sp>
      <p:sp>
        <p:nvSpPr>
          <p:cNvPr id="3" name="Content Placeholder 2"/>
          <p:cNvSpPr>
            <a:spLocks noGrp="1"/>
          </p:cNvSpPr>
          <p:nvPr>
            <p:ph idx="1"/>
          </p:nvPr>
        </p:nvSpPr>
        <p:spPr/>
        <p:txBody>
          <a:bodyPr/>
          <a:lstStyle/>
          <a:p>
            <a:r>
              <a:rPr lang="en-US" b="1" dirty="0" smtClean="0"/>
              <a:t>Guided by : D. GAYA M.sc., </a:t>
            </a:r>
            <a:r>
              <a:rPr lang="en-US" b="1" dirty="0" err="1" smtClean="0"/>
              <a:t>M.Phil.M.Tech</a:t>
            </a:r>
            <a:r>
              <a:rPr lang="en-US" b="1" dirty="0" smtClean="0"/>
              <a:t>(</a:t>
            </a:r>
            <a:r>
              <a:rPr lang="en-US" b="1" dirty="0" err="1" smtClean="0"/>
              <a:t>cse</a:t>
            </a:r>
            <a:r>
              <a:rPr lang="en-US" b="1" dirty="0" smtClean="0"/>
              <a:t>).,(Ph.D.)</a:t>
            </a:r>
          </a:p>
          <a:p>
            <a:pPr>
              <a:buNone/>
            </a:pPr>
            <a:r>
              <a:rPr lang="en-US" b="1" dirty="0" smtClean="0"/>
              <a:t>   Associate Professor, PUCC.</a:t>
            </a:r>
          </a:p>
          <a:p>
            <a:pPr>
              <a:buNone/>
            </a:pPr>
            <a:endParaRPr lang="en-US" b="1" dirty="0" smtClean="0"/>
          </a:p>
          <a:p>
            <a:r>
              <a:rPr lang="en-US" sz="2400" b="1" dirty="0" smtClean="0"/>
              <a:t>Presented By:</a:t>
            </a:r>
          </a:p>
          <a:p>
            <a:pPr lvl="1">
              <a:buNone/>
            </a:pPr>
            <a:r>
              <a:rPr lang="en-US" b="1" dirty="0" smtClean="0"/>
              <a:t>                   </a:t>
            </a:r>
            <a:r>
              <a:rPr lang="en-US" dirty="0" smtClean="0"/>
              <a:t>SAM SUVARTS. S – </a:t>
            </a:r>
            <a:r>
              <a:rPr lang="en-US" dirty="0" smtClean="0">
                <a:latin typeface="Bahnschrift" pitchFamily="34" charset="0"/>
              </a:rPr>
              <a:t>20CA0437</a:t>
            </a:r>
          </a:p>
          <a:p>
            <a:pPr>
              <a:buNone/>
            </a:pPr>
            <a:r>
              <a:rPr lang="en-US" dirty="0" smtClean="0"/>
              <a:t>	                  PRIYADHARSHAN. R-</a:t>
            </a:r>
            <a:r>
              <a:rPr lang="en-US" dirty="0" smtClean="0">
                <a:latin typeface="Bahnschrift" pitchFamily="34" charset="0"/>
              </a:rPr>
              <a:t> 20CA0432</a:t>
            </a:r>
            <a:endParaRPr lang="en-US" dirty="0" smtClean="0"/>
          </a:p>
          <a:p>
            <a:pPr>
              <a:buNone/>
            </a:pPr>
            <a:r>
              <a:rPr lang="en-US" dirty="0" smtClean="0"/>
              <a:t>	                  JANARTHANAN. P</a:t>
            </a:r>
            <a:r>
              <a:rPr lang="en-US" dirty="0" smtClean="0">
                <a:latin typeface="Bahnschrift" pitchFamily="34" charset="0"/>
              </a:rPr>
              <a:t> -20CA0418</a:t>
            </a:r>
            <a:endParaRPr lang="en-US" dirty="0" smtClean="0"/>
          </a:p>
          <a:p>
            <a:pPr>
              <a:buNone/>
            </a:pPr>
            <a:r>
              <a:rPr lang="en-US" dirty="0" smtClean="0"/>
              <a:t>	                  THOMAS SANTHANASAMY. A</a:t>
            </a:r>
            <a:r>
              <a:rPr lang="en-US" dirty="0" smtClean="0">
                <a:latin typeface="Bahnschrift" pitchFamily="34" charset="0"/>
              </a:rPr>
              <a:t> -20CA0447</a:t>
            </a:r>
            <a:endParaRPr lang="en-US" dirty="0" smtClean="0"/>
          </a:p>
          <a:p>
            <a:endParaRPr lang="en-US" dirty="0"/>
          </a:p>
        </p:txBody>
      </p:sp>
    </p:spTree>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lstStyle/>
          <a:p>
            <a:r>
              <a:rPr lang="en-US" b="1" dirty="0" smtClean="0"/>
              <a:t>Introduction</a:t>
            </a:r>
            <a:endParaRPr lang="en-US" dirty="0"/>
          </a:p>
        </p:txBody>
      </p:sp>
      <p:sp>
        <p:nvSpPr>
          <p:cNvPr id="3" name="Content Placeholder 2"/>
          <p:cNvSpPr>
            <a:spLocks noGrp="1"/>
          </p:cNvSpPr>
          <p:nvPr>
            <p:ph idx="1"/>
          </p:nvPr>
        </p:nvSpPr>
        <p:spPr>
          <a:xfrm>
            <a:off x="457200" y="1828800"/>
            <a:ext cx="8229600" cy="4495800"/>
          </a:xfrm>
        </p:spPr>
        <p:txBody>
          <a:bodyPr/>
          <a:lstStyle/>
          <a:p>
            <a:r>
              <a:rPr lang="en-US" dirty="0" smtClean="0"/>
              <a:t>In today's digital age, there is a growing need for web-based applications that can help to automate tasks and </a:t>
            </a:r>
            <a:r>
              <a:rPr lang="en-US" dirty="0" smtClean="0">
                <a:latin typeface="Times New Roman" pitchFamily="18" charset="0"/>
                <a:cs typeface="Times New Roman" pitchFamily="18" charset="0"/>
              </a:rPr>
              <a:t>improve</a:t>
            </a:r>
            <a:r>
              <a:rPr lang="en-US" dirty="0" smtClean="0"/>
              <a:t> efficiency.</a:t>
            </a:r>
          </a:p>
          <a:p>
            <a:r>
              <a:rPr lang="en-US" dirty="0" smtClean="0"/>
              <a:t>One such application is a web-based student mark list management system.</a:t>
            </a:r>
          </a:p>
          <a:p>
            <a:r>
              <a:rPr lang="en-US" dirty="0" smtClean="0"/>
              <a:t>This system can be used to store and manage student mark lists, which can save time and effort for teachers and administrators.</a:t>
            </a:r>
          </a:p>
          <a:p>
            <a:r>
              <a:rPr lang="en-US" dirty="0" smtClean="0"/>
              <a:t>In this project, we will develop a web-based student mark list management system using PHP.</a:t>
            </a:r>
          </a:p>
          <a:p>
            <a:endParaRPr lang="en-US" dirty="0"/>
          </a:p>
        </p:txBody>
      </p:sp>
    </p:spTree>
  </p:cSld>
  <p:clrMapOvr>
    <a:masterClrMapping/>
  </p:clrMapOvr>
  <p:transition>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533400"/>
            <a:ext cx="8229600" cy="609600"/>
          </a:xfrm>
        </p:spPr>
        <p:txBody>
          <a:bodyPr>
            <a:normAutofit fontScale="90000"/>
          </a:bodyPr>
          <a:lstStyle/>
          <a:p>
            <a:pPr algn="ctr"/>
            <a:r>
              <a:rPr lang="en-US" b="1" dirty="0"/>
              <a:t>EXISTING SYSTEM</a:t>
            </a:r>
            <a:endParaRPr lang="en-US" dirty="0"/>
          </a:p>
        </p:txBody>
      </p:sp>
      <p:sp>
        <p:nvSpPr>
          <p:cNvPr id="10243" name="Content Placeholder 2"/>
          <p:cNvSpPr>
            <a:spLocks noGrp="1"/>
          </p:cNvSpPr>
          <p:nvPr>
            <p:ph idx="1"/>
          </p:nvPr>
        </p:nvSpPr>
        <p:spPr>
          <a:xfrm>
            <a:off x="304800" y="1447800"/>
            <a:ext cx="8382000" cy="4476776"/>
          </a:xfrm>
        </p:spPr>
        <p:txBody>
          <a:bodyPr>
            <a:normAutofit/>
          </a:bodyPr>
          <a:lstStyle/>
          <a:p>
            <a:r>
              <a:rPr lang="en-US" sz="2800" dirty="0" smtClean="0">
                <a:latin typeface="Times New Roman" pitchFamily="18" charset="0"/>
                <a:cs typeface="Times New Roman" pitchFamily="18" charset="0"/>
              </a:rPr>
              <a:t>The system starts with registration of new staff and students. When the subjects are to be allocated to the faculty, the Head of the Department should enter everything in the Database. Then the staff enters corresponding subject's attendance and marks of the student then those must also be entered in the Database.</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00034" y="785794"/>
            <a:ext cx="8229600" cy="1571636"/>
          </a:xfrm>
        </p:spPr>
        <p:txBody>
          <a:bodyPr/>
          <a:lstStyle/>
          <a:p>
            <a:pPr algn="ctr"/>
            <a:r>
              <a:rPr lang="en-US" dirty="0"/>
              <a:t>DRAWBACKS OF THE EXISTING SYSTEM</a:t>
            </a:r>
          </a:p>
        </p:txBody>
      </p:sp>
      <p:sp>
        <p:nvSpPr>
          <p:cNvPr id="11267" name="Content Placeholder 2"/>
          <p:cNvSpPr>
            <a:spLocks noGrp="1"/>
          </p:cNvSpPr>
          <p:nvPr>
            <p:ph idx="1"/>
          </p:nvPr>
        </p:nvSpPr>
        <p:spPr>
          <a:xfrm>
            <a:off x="457200" y="2786058"/>
            <a:ext cx="8229600" cy="3357586"/>
          </a:xfrm>
        </p:spPr>
        <p:txBody>
          <a:bodyPr>
            <a:normAutofit fontScale="92500" lnSpcReduction="10000"/>
          </a:bodyPr>
          <a:lstStyle/>
          <a:p>
            <a:endParaRPr lang="en-US" dirty="0"/>
          </a:p>
          <a:p>
            <a:pPr marL="342900" marR="16510" lvl="0" indent="-342900" algn="just">
              <a:spcAft>
                <a:spcPts val="1000"/>
              </a:spcAft>
              <a:buFont typeface="Wingdings" panose="05000000000000000000" pitchFamily="2" charset="2"/>
              <a:buChar char=""/>
              <a:tabLst>
                <a:tab pos="457200" algn="l"/>
              </a:tabLst>
            </a:pPr>
            <a:r>
              <a:rPr lang="en-IN" sz="2800" dirty="0">
                <a:effectLst/>
                <a:latin typeface="Times New Roman" pitchFamily="18" charset="0"/>
                <a:ea typeface="Calibri" panose="020F0502020204030204" pitchFamily="34" charset="0"/>
                <a:cs typeface="Times New Roman" pitchFamily="18" charset="0"/>
              </a:rPr>
              <a:t>Not user friendly</a:t>
            </a:r>
          </a:p>
          <a:p>
            <a:pPr marL="342900" marR="16510" lvl="0" indent="-342900" algn="just">
              <a:spcAft>
                <a:spcPts val="1000"/>
              </a:spcAft>
              <a:buFont typeface="Wingdings" panose="05000000000000000000" pitchFamily="2" charset="2"/>
              <a:buChar char=""/>
              <a:tabLst>
                <a:tab pos="457200" algn="l"/>
              </a:tabLst>
            </a:pPr>
            <a:r>
              <a:rPr lang="en-IN" sz="2800" dirty="0">
                <a:effectLst/>
                <a:latin typeface="Times New Roman" pitchFamily="18" charset="0"/>
                <a:ea typeface="Calibri" panose="020F0502020204030204" pitchFamily="34" charset="0"/>
                <a:cs typeface="Times New Roman" pitchFamily="18" charset="0"/>
              </a:rPr>
              <a:t>Difficulty in report generation</a:t>
            </a:r>
          </a:p>
          <a:p>
            <a:pPr marL="342900" marR="16510" lvl="0" indent="-342900" algn="just">
              <a:spcAft>
                <a:spcPts val="1000"/>
              </a:spcAft>
              <a:buFont typeface="Wingdings" panose="05000000000000000000" pitchFamily="2" charset="2"/>
              <a:buChar char=""/>
              <a:tabLst>
                <a:tab pos="457200" algn="l"/>
              </a:tabLst>
            </a:pPr>
            <a:r>
              <a:rPr lang="en-IN" sz="2800" dirty="0">
                <a:effectLst/>
                <a:latin typeface="Times New Roman" pitchFamily="18" charset="0"/>
                <a:ea typeface="Calibri" panose="020F0502020204030204" pitchFamily="34" charset="0"/>
                <a:cs typeface="Times New Roman" pitchFamily="18" charset="0"/>
              </a:rPr>
              <a:t>Manual control</a:t>
            </a:r>
          </a:p>
          <a:p>
            <a:pPr marL="342900" marR="16510" lvl="0" indent="-342900" algn="just">
              <a:spcAft>
                <a:spcPts val="1000"/>
              </a:spcAft>
              <a:buFont typeface="Wingdings" panose="05000000000000000000" pitchFamily="2" charset="2"/>
              <a:buChar char=""/>
              <a:tabLst>
                <a:tab pos="457200" algn="l"/>
              </a:tabLst>
            </a:pPr>
            <a:r>
              <a:rPr lang="en-IN" sz="2800" dirty="0">
                <a:effectLst/>
                <a:latin typeface="Times New Roman" pitchFamily="18" charset="0"/>
                <a:ea typeface="Calibri" panose="020F0502020204030204" pitchFamily="34" charset="0"/>
                <a:cs typeface="Times New Roman" pitchFamily="18" charset="0"/>
              </a:rPr>
              <a:t>Lots of paperwork</a:t>
            </a:r>
          </a:p>
          <a:p>
            <a:pPr marL="342900" marR="16510" lvl="0" indent="-342900" algn="just">
              <a:spcAft>
                <a:spcPts val="1000"/>
              </a:spcAft>
              <a:buFont typeface="Wingdings" panose="05000000000000000000" pitchFamily="2" charset="2"/>
              <a:buChar char=""/>
              <a:tabLst>
                <a:tab pos="457200" algn="l"/>
              </a:tabLst>
            </a:pPr>
            <a:r>
              <a:rPr lang="en-IN" sz="2800" dirty="0">
                <a:effectLst/>
                <a:latin typeface="Times New Roman" pitchFamily="18" charset="0"/>
                <a:ea typeface="Calibri" panose="020F0502020204030204" pitchFamily="34" charset="0"/>
                <a:cs typeface="Times New Roman" pitchFamily="18" charset="0"/>
              </a:rPr>
              <a:t>Time </a:t>
            </a:r>
            <a:r>
              <a:rPr lang="en-IN" sz="2800" dirty="0" smtClean="0">
                <a:effectLst/>
                <a:latin typeface="Times New Roman" pitchFamily="18" charset="0"/>
                <a:ea typeface="Calibri" panose="020F0502020204030204" pitchFamily="34" charset="0"/>
                <a:cs typeface="Times New Roman" pitchFamily="18" charset="0"/>
              </a:rPr>
              <a:t>consuming</a:t>
            </a:r>
          </a:p>
          <a:p>
            <a:pPr marL="342900" marR="16510" lvl="0" indent="-342900" algn="just">
              <a:spcAft>
                <a:spcPts val="1000"/>
              </a:spcAft>
              <a:buFont typeface="Wingdings" panose="05000000000000000000" pitchFamily="2" charset="2"/>
              <a:buChar char=""/>
              <a:tabLst>
                <a:tab pos="457200" algn="l"/>
              </a:tabLst>
            </a:pPr>
            <a:endParaRPr lang="en-IN" sz="2800" dirty="0">
              <a:effectLst/>
              <a:latin typeface="Times New Roman" pitchFamily="18" charset="0"/>
              <a:ea typeface="Calibri" panose="020F0502020204030204" pitchFamily="34" charset="0"/>
              <a:cs typeface="Times New Roman" pitchFamily="18" charset="0"/>
            </a:endParaRPr>
          </a:p>
          <a:p>
            <a:pPr marL="0" indent="0">
              <a:buNone/>
            </a:pPr>
            <a:endParaRPr lang="en-US" dirty="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Proposed System:</a:t>
            </a:r>
            <a:r>
              <a:rPr lang="en-US" dirty="0" smtClean="0"/>
              <a:t> </a:t>
            </a:r>
            <a:br>
              <a:rPr lang="en-US" dirty="0" smtClean="0"/>
            </a:br>
            <a:endParaRPr lang="en-US" dirty="0"/>
          </a:p>
        </p:txBody>
      </p:sp>
      <p:sp>
        <p:nvSpPr>
          <p:cNvPr id="3" name="Rectangle 2"/>
          <p:cNvSpPr/>
          <p:nvPr/>
        </p:nvSpPr>
        <p:spPr>
          <a:xfrm>
            <a:off x="457200" y="1443841"/>
            <a:ext cx="7848600" cy="4524315"/>
          </a:xfrm>
          <a:prstGeom prst="rect">
            <a:avLst/>
          </a:prstGeom>
        </p:spPr>
        <p:txBody>
          <a:bodyPr wrap="square">
            <a:spAutoFit/>
          </a:bodyPr>
          <a:lstStyle/>
          <a:p>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a:t>
            </a:r>
            <a:r>
              <a:rPr lang="en-US" sz="2400" u="sng" dirty="0" smtClean="0">
                <a:latin typeface="Bahnschrift Light Condensed" pitchFamily="34" charset="0"/>
              </a:rPr>
              <a:t>Web Based Student Mark List Management System Using PHP</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of the organization is developed to overcome the most of the problems occurring in the manual system by computerizing the existing system. The features of the newly proposed computerized system are described in brief as below</a:t>
            </a:r>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Advantages:</a:t>
            </a:r>
          </a:p>
          <a:p>
            <a:r>
              <a:rPr lang="en-US" sz="2400" dirty="0" smtClean="0">
                <a:latin typeface="Times New Roman" pitchFamily="18" charset="0"/>
                <a:cs typeface="Times New Roman" pitchFamily="18" charset="0"/>
              </a:rPr>
              <a:t>• Time consumption is reduced.</a:t>
            </a:r>
          </a:p>
          <a:p>
            <a:r>
              <a:rPr lang="en-US" sz="2400" dirty="0" smtClean="0">
                <a:latin typeface="Times New Roman" pitchFamily="18" charset="0"/>
                <a:cs typeface="Times New Roman" pitchFamily="18" charset="0"/>
              </a:rPr>
              <a:t>• Easy to enter details about teachers and students. Easy to </a:t>
            </a:r>
            <a:r>
              <a:rPr lang="en-US" sz="2400" dirty="0" smtClean="0">
                <a:latin typeface="Times New Roman" pitchFamily="18" charset="0"/>
                <a:cs typeface="Times New Roman" pitchFamily="18" charset="0"/>
              </a:rPr>
              <a:t>  search</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edit and </a:t>
            </a:r>
            <a:r>
              <a:rPr lang="en-US" sz="2400" dirty="0" smtClean="0">
                <a:latin typeface="Times New Roman" pitchFamily="18" charset="0"/>
                <a:cs typeface="Times New Roman" pitchFamily="18" charset="0"/>
              </a:rPr>
              <a:t>update. A secure </a:t>
            </a:r>
            <a:r>
              <a:rPr lang="en-US" sz="2400" dirty="0" smtClean="0">
                <a:latin typeface="Times New Roman" pitchFamily="18" charset="0"/>
                <a:cs typeface="Times New Roman" pitchFamily="18" charset="0"/>
              </a:rPr>
              <a:t>student registration/authentication </a:t>
            </a:r>
            <a:r>
              <a:rPr lang="en-US" sz="2400" dirty="0" smtClean="0">
                <a:latin typeface="Times New Roman" pitchFamily="18" charset="0"/>
                <a:cs typeface="Times New Roman" pitchFamily="18" charset="0"/>
              </a:rPr>
              <a:t>system. </a:t>
            </a:r>
            <a:br>
              <a:rPr lang="en-US" sz="2400" dirty="0" smtClean="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 Requirements</a:t>
            </a:r>
            <a:endParaRPr lang="en-US" dirty="0"/>
          </a:p>
        </p:txBody>
      </p:sp>
      <p:sp>
        <p:nvSpPr>
          <p:cNvPr id="3" name="Content Placeholder 2"/>
          <p:cNvSpPr>
            <a:spLocks noGrp="1"/>
          </p:cNvSpPr>
          <p:nvPr>
            <p:ph idx="1"/>
          </p:nvPr>
        </p:nvSpPr>
        <p:spPr/>
        <p:txBody>
          <a:bodyPr/>
          <a:lstStyle/>
          <a:p>
            <a:r>
              <a:rPr lang="en-US" sz="3200" dirty="0" smtClean="0">
                <a:latin typeface="Times New Roman" pitchFamily="18" charset="0"/>
                <a:cs typeface="Times New Roman" pitchFamily="18" charset="0"/>
              </a:rPr>
              <a:t>The system will be developed using PHP, </a:t>
            </a:r>
            <a:r>
              <a:rPr lang="en-US" sz="3200" dirty="0" err="1" smtClean="0">
                <a:latin typeface="Times New Roman" pitchFamily="18" charset="0"/>
                <a:cs typeface="Times New Roman" pitchFamily="18" charset="0"/>
              </a:rPr>
              <a:t>MySQL</a:t>
            </a:r>
            <a:r>
              <a:rPr lang="en-US" sz="3200" dirty="0" smtClean="0">
                <a:latin typeface="Times New Roman" pitchFamily="18" charset="0"/>
                <a:cs typeface="Times New Roman" pitchFamily="18" charset="0"/>
              </a:rPr>
              <a:t>, and HTML/CSS</a:t>
            </a:r>
            <a:r>
              <a:rPr lang="en-US" sz="3200" dirty="0" smtClean="0">
                <a:latin typeface="Times New Roman" pitchFamily="18" charset="0"/>
                <a:cs typeface="Times New Roman" pitchFamily="18" charset="0"/>
              </a:rPr>
              <a:t>.</a:t>
            </a:r>
          </a:p>
          <a:p>
            <a:r>
              <a:rPr lang="en-US" sz="3200" dirty="0" smtClean="0">
                <a:latin typeface="Times New Roman" pitchFamily="18" charset="0"/>
                <a:cs typeface="Times New Roman" pitchFamily="18" charset="0"/>
              </a:rPr>
              <a:t>The </a:t>
            </a:r>
            <a:r>
              <a:rPr lang="en-US" sz="3200" dirty="0" smtClean="0">
                <a:latin typeface="Times New Roman" pitchFamily="18" charset="0"/>
                <a:cs typeface="Times New Roman" pitchFamily="18" charset="0"/>
              </a:rPr>
              <a:t>system will be hosted on a web server.</a:t>
            </a:r>
          </a:p>
          <a:p>
            <a:r>
              <a:rPr lang="en-US" sz="3200" dirty="0" smtClean="0">
                <a:latin typeface="Times New Roman" pitchFamily="18" charset="0"/>
                <a:cs typeface="Times New Roman" pitchFamily="18" charset="0"/>
              </a:rPr>
              <a:t>The system will be accessible to teachers and administrators via a web browser.</a:t>
            </a:r>
          </a:p>
          <a:p>
            <a:endParaRPr lang="en-US" dirty="0"/>
          </a:p>
        </p:txBody>
      </p:sp>
    </p:spTree>
  </p:cSld>
  <p:clrMapOvr>
    <a:masterClrMapping/>
  </p:clrMapOvr>
  <p:transition>
    <p:pull dir="l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 Architecture</a:t>
            </a:r>
            <a:endParaRPr lang="en-US" dirty="0"/>
          </a:p>
        </p:txBody>
      </p:sp>
      <p:sp>
        <p:nvSpPr>
          <p:cNvPr id="3" name="Content Placeholder 2"/>
          <p:cNvSpPr>
            <a:spLocks noGrp="1"/>
          </p:cNvSpPr>
          <p:nvPr>
            <p:ph idx="1"/>
          </p:nvPr>
        </p:nvSpPr>
        <p:spPr/>
        <p:txBody>
          <a:bodyPr/>
          <a:lstStyle/>
          <a:p>
            <a:r>
              <a:rPr lang="en-US" sz="3200" dirty="0" smtClean="0">
                <a:latin typeface="Times New Roman" pitchFamily="18" charset="0"/>
                <a:cs typeface="Times New Roman" pitchFamily="18" charset="0"/>
              </a:rPr>
              <a:t>The system will be divided into three main components: The database component will store all of the student mark data.</a:t>
            </a:r>
          </a:p>
          <a:p>
            <a:r>
              <a:rPr lang="en-US" sz="3200" dirty="0" smtClean="0">
                <a:latin typeface="Times New Roman" pitchFamily="18" charset="0"/>
                <a:cs typeface="Times New Roman" pitchFamily="18" charset="0"/>
              </a:rPr>
              <a:t>The application component will provide the user interface for managing the student mark data.</a:t>
            </a:r>
          </a:p>
          <a:p>
            <a:r>
              <a:rPr lang="en-US" sz="3200" dirty="0" smtClean="0">
                <a:latin typeface="Times New Roman" pitchFamily="18" charset="0"/>
                <a:cs typeface="Times New Roman" pitchFamily="18" charset="0"/>
              </a:rPr>
              <a:t>The web server component will deliver the application component to users.</a:t>
            </a:r>
          </a:p>
          <a:p>
            <a:endParaRPr lang="en-US" dirty="0"/>
          </a:p>
        </p:txBody>
      </p:sp>
    </p:spTree>
  </p:cSld>
  <p:clrMapOvr>
    <a:masterClrMapping/>
  </p:clrMapOvr>
  <p:transition>
    <p:split dir="in"/>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 Features</a:t>
            </a:r>
            <a:endParaRPr lang="en-US" dirty="0"/>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The system will allow administrators to:</a:t>
            </a:r>
          </a:p>
          <a:p>
            <a:pPr lvl="1"/>
            <a:r>
              <a:rPr lang="en-US" sz="2800" dirty="0" smtClean="0">
                <a:latin typeface="Times New Roman" pitchFamily="18" charset="0"/>
                <a:cs typeface="Times New Roman" pitchFamily="18" charset="0"/>
              </a:rPr>
              <a:t>Add Course, Fees details , Student Registration </a:t>
            </a:r>
          </a:p>
          <a:p>
            <a:pPr lvl="1"/>
            <a:r>
              <a:rPr lang="en-US" sz="2800" dirty="0" smtClean="0">
                <a:latin typeface="Times New Roman" pitchFamily="18" charset="0"/>
                <a:cs typeface="Times New Roman" pitchFamily="18" charset="0"/>
              </a:rPr>
              <a:t>Add student internal mark data,</a:t>
            </a:r>
          </a:p>
          <a:p>
            <a:pPr lvl="1"/>
            <a:r>
              <a:rPr lang="en-US" sz="2800" dirty="0" smtClean="0">
                <a:latin typeface="Times New Roman" pitchFamily="18" charset="0"/>
                <a:cs typeface="Times New Roman" pitchFamily="18" charset="0"/>
              </a:rPr>
              <a:t>Student Exam Registration</a:t>
            </a:r>
          </a:p>
          <a:p>
            <a:pPr lvl="1"/>
            <a:r>
              <a:rPr lang="en-US" sz="2800" dirty="0" smtClean="0">
                <a:latin typeface="Times New Roman" pitchFamily="18" charset="0"/>
                <a:cs typeface="Times New Roman" pitchFamily="18" charset="0"/>
              </a:rPr>
              <a:t>Generate reports on course-wise</a:t>
            </a:r>
            <a:endParaRPr lang="en-US" sz="2800" dirty="0">
              <a:latin typeface="Times New Roman" pitchFamily="18" charset="0"/>
              <a:cs typeface="Times New Roman" pitchFamily="18" charset="0"/>
            </a:endParaRPr>
          </a:p>
        </p:txBody>
      </p:sp>
    </p:spTree>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 Benefits</a:t>
            </a:r>
            <a:endParaRPr lang="en-US" dirty="0"/>
          </a:p>
        </p:txBody>
      </p:sp>
      <p:sp>
        <p:nvSpPr>
          <p:cNvPr id="3" name="Content Placeholder 2"/>
          <p:cNvSpPr>
            <a:spLocks noGrp="1"/>
          </p:cNvSpPr>
          <p:nvPr>
            <p:ph idx="1"/>
          </p:nvPr>
        </p:nvSpPr>
        <p:spPr/>
        <p:txBody>
          <a:bodyPr>
            <a:noAutofit/>
          </a:bodyPr>
          <a:lstStyle/>
          <a:p>
            <a:r>
              <a:rPr lang="en-US" sz="2400" b="1" dirty="0" smtClean="0">
                <a:latin typeface="Times New Roman" pitchFamily="18" charset="0"/>
                <a:cs typeface="Times New Roman" pitchFamily="18" charset="0"/>
              </a:rPr>
              <a:t>The system will provide a number of benefits for teachers and administrators, including:</a:t>
            </a:r>
          </a:p>
          <a:p>
            <a:r>
              <a:rPr lang="en-US" sz="2400" b="1" dirty="0" smtClean="0">
                <a:latin typeface="Times New Roman" pitchFamily="18" charset="0"/>
                <a:cs typeface="Times New Roman" pitchFamily="18" charset="0"/>
              </a:rPr>
              <a:t> Increased efficiency: </a:t>
            </a:r>
            <a:r>
              <a:rPr lang="en-US" sz="2400" dirty="0" smtClean="0">
                <a:latin typeface="Times New Roman" pitchFamily="18" charset="0"/>
                <a:cs typeface="Times New Roman" pitchFamily="18" charset="0"/>
              </a:rPr>
              <a:t>The system will automate  many of the tasks involved in managing student data, which will save time and effort for teachers and administrators.</a:t>
            </a:r>
          </a:p>
          <a:p>
            <a:r>
              <a:rPr lang="en-US" sz="2400" b="1" dirty="0" smtClean="0">
                <a:latin typeface="Times New Roman" pitchFamily="18" charset="0"/>
                <a:cs typeface="Times New Roman" pitchFamily="18" charset="0"/>
              </a:rPr>
              <a:t>Improved accuracy: </a:t>
            </a:r>
            <a:r>
              <a:rPr lang="en-US" sz="2400" dirty="0" smtClean="0">
                <a:latin typeface="Times New Roman" pitchFamily="18" charset="0"/>
                <a:cs typeface="Times New Roman" pitchFamily="18" charset="0"/>
              </a:rPr>
              <a:t>The system will help to ensure that student data is accurate and up-to-date.</a:t>
            </a:r>
          </a:p>
          <a:p>
            <a:r>
              <a:rPr lang="en-US" sz="2400" b="1" dirty="0" smtClean="0">
                <a:latin typeface="Times New Roman" pitchFamily="18" charset="0"/>
                <a:cs typeface="Times New Roman" pitchFamily="18" charset="0"/>
              </a:rPr>
              <a:t>Increased flexibility: </a:t>
            </a:r>
            <a:r>
              <a:rPr lang="en-US" sz="2400" dirty="0" smtClean="0">
                <a:latin typeface="Times New Roman" pitchFamily="18" charset="0"/>
                <a:cs typeface="Times New Roman" pitchFamily="18" charset="0"/>
              </a:rPr>
              <a:t>The system will be flexible enough to meet the needs of different course and departments.</a:t>
            </a:r>
          </a:p>
          <a:p>
            <a:endParaRPr lang="en-US" sz="2400" dirty="0">
              <a:latin typeface="Times New Roman" pitchFamily="18" charset="0"/>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305800" cy="990600"/>
          </a:xfrm>
        </p:spPr>
        <p:txBody>
          <a:bodyPr>
            <a:normAutofit fontScale="90000"/>
          </a:bodyPr>
          <a:lstStyle/>
          <a:p>
            <a:r>
              <a:rPr lang="en-US" b="1" dirty="0" smtClean="0"/>
              <a:t>   </a:t>
            </a:r>
            <a:br>
              <a:rPr lang="en-US" b="1" dirty="0" smtClean="0"/>
            </a:br>
            <a:r>
              <a:rPr lang="en-US" b="1" dirty="0" smtClean="0"/>
              <a:t/>
            </a:r>
            <a:br>
              <a:rPr lang="en-US" b="1" dirty="0" smtClean="0"/>
            </a:br>
            <a:r>
              <a:rPr lang="en-US" dirty="0" smtClean="0"/>
              <a:t/>
            </a:r>
            <a:br>
              <a:rPr lang="en-US" dirty="0" smtClean="0"/>
            </a:br>
            <a:r>
              <a:rPr lang="en-US" b="1" dirty="0" smtClean="0"/>
              <a:t> Database Design:</a:t>
            </a:r>
            <a:r>
              <a:rPr lang="en-US" dirty="0" smtClean="0"/>
              <a:t> </a:t>
            </a:r>
            <a:endParaRPr lang="en-US" dirty="0"/>
          </a:p>
        </p:txBody>
      </p:sp>
      <p:pic>
        <p:nvPicPr>
          <p:cNvPr id="1026" name="Picture 2"/>
          <p:cNvPicPr>
            <a:picLocks noChangeAspect="1" noChangeArrowheads="1"/>
          </p:cNvPicPr>
          <p:nvPr/>
        </p:nvPicPr>
        <p:blipFill>
          <a:blip r:embed="rId2"/>
          <a:srcRect/>
          <a:stretch>
            <a:fillRect/>
          </a:stretch>
        </p:blipFill>
        <p:spPr bwMode="auto">
          <a:xfrm>
            <a:off x="1381125" y="1600200"/>
            <a:ext cx="6381750" cy="48768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305800" cy="228600"/>
          </a:xfrm>
        </p:spPr>
        <p:txBody>
          <a:bodyPr>
            <a:normAutofit fontScale="90000"/>
          </a:bodyPr>
          <a:lstStyle/>
          <a:p>
            <a:r>
              <a:rPr lang="en-US" sz="5400" dirty="0" smtClean="0"/>
              <a:t/>
            </a:r>
            <a:br>
              <a:rPr lang="en-US" sz="5400" dirty="0" smtClean="0"/>
            </a:br>
            <a:r>
              <a:rPr lang="en-US" sz="4800" b="1" u="sng" dirty="0" smtClean="0"/>
              <a:t> SCREEN SHOTS – LOGIN PAGE</a:t>
            </a:r>
            <a:endParaRPr lang="en-US" dirty="0"/>
          </a:p>
        </p:txBody>
      </p:sp>
      <p:pic>
        <p:nvPicPr>
          <p:cNvPr id="2050" name="Picture 2"/>
          <p:cNvPicPr>
            <a:picLocks noChangeAspect="1" noChangeArrowheads="1"/>
          </p:cNvPicPr>
          <p:nvPr/>
        </p:nvPicPr>
        <p:blipFill>
          <a:blip r:embed="rId2"/>
          <a:srcRect/>
          <a:stretch>
            <a:fillRect/>
          </a:stretch>
        </p:blipFill>
        <p:spPr bwMode="auto">
          <a:xfrm>
            <a:off x="838199" y="1676400"/>
            <a:ext cx="7162801" cy="35814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Course page: </a:t>
            </a:r>
            <a:br>
              <a:rPr lang="en-US" dirty="0" smtClean="0"/>
            </a:br>
            <a:endParaRPr lang="en-US" dirty="0"/>
          </a:p>
        </p:txBody>
      </p:sp>
      <p:pic>
        <p:nvPicPr>
          <p:cNvPr id="3074" name="Picture 2"/>
          <p:cNvPicPr>
            <a:picLocks noChangeAspect="1" noChangeArrowheads="1"/>
          </p:cNvPicPr>
          <p:nvPr/>
        </p:nvPicPr>
        <p:blipFill>
          <a:blip r:embed="rId2"/>
          <a:srcRect/>
          <a:stretch>
            <a:fillRect/>
          </a:stretch>
        </p:blipFill>
        <p:spPr bwMode="auto">
          <a:xfrm>
            <a:off x="47158" y="1905000"/>
            <a:ext cx="9096842" cy="4102817"/>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t>
            </a:r>
            <a:r>
              <a:rPr lang="en-US" dirty="0" smtClean="0"/>
              <a:t>                                                                   Add </a:t>
            </a:r>
            <a:r>
              <a:rPr lang="en-US" dirty="0" smtClean="0"/>
              <a:t>Subject Page: </a:t>
            </a:r>
            <a:br>
              <a:rPr lang="en-US" dirty="0" smtClean="0"/>
            </a:br>
            <a:endParaRPr lang="en-US" dirty="0"/>
          </a:p>
        </p:txBody>
      </p:sp>
      <p:pic>
        <p:nvPicPr>
          <p:cNvPr id="4098" name="Picture 2"/>
          <p:cNvPicPr>
            <a:picLocks noChangeAspect="1" noChangeArrowheads="1"/>
          </p:cNvPicPr>
          <p:nvPr/>
        </p:nvPicPr>
        <p:blipFill>
          <a:blip r:embed="rId2"/>
          <a:srcRect/>
          <a:stretch>
            <a:fillRect/>
          </a:stretch>
        </p:blipFill>
        <p:spPr bwMode="auto">
          <a:xfrm>
            <a:off x="1828800" y="1676400"/>
            <a:ext cx="5410200" cy="4267199"/>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Add Students Page: </a:t>
            </a:r>
            <a:br>
              <a:rPr lang="en-US" dirty="0" smtClean="0"/>
            </a:br>
            <a:endParaRPr lang="en-US" dirty="0"/>
          </a:p>
        </p:txBody>
      </p:sp>
      <p:pic>
        <p:nvPicPr>
          <p:cNvPr id="5122" name="Picture 2"/>
          <p:cNvPicPr>
            <a:picLocks noChangeAspect="1" noChangeArrowheads="1"/>
          </p:cNvPicPr>
          <p:nvPr/>
        </p:nvPicPr>
        <p:blipFill>
          <a:blip r:embed="rId2"/>
          <a:srcRect/>
          <a:stretch>
            <a:fillRect/>
          </a:stretch>
        </p:blipFill>
        <p:spPr bwMode="auto">
          <a:xfrm>
            <a:off x="990600" y="1752600"/>
            <a:ext cx="7239000" cy="41148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 Registration </a:t>
            </a:r>
            <a:r>
              <a:rPr lang="en-US" dirty="0" smtClean="0"/>
              <a:t>Page </a:t>
            </a:r>
            <a:r>
              <a:rPr lang="en-US" dirty="0" smtClean="0"/>
              <a:t/>
            </a:r>
            <a:br>
              <a:rPr lang="en-US" dirty="0" smtClean="0"/>
            </a:br>
            <a:endParaRPr lang="en-US" dirty="0"/>
          </a:p>
        </p:txBody>
      </p:sp>
      <p:pic>
        <p:nvPicPr>
          <p:cNvPr id="6146" name="Picture 2"/>
          <p:cNvPicPr>
            <a:picLocks noChangeAspect="1" noChangeArrowheads="1"/>
          </p:cNvPicPr>
          <p:nvPr/>
        </p:nvPicPr>
        <p:blipFill>
          <a:blip r:embed="rId2"/>
          <a:srcRect/>
          <a:stretch>
            <a:fillRect/>
          </a:stretch>
        </p:blipFill>
        <p:spPr bwMode="auto">
          <a:xfrm>
            <a:off x="1524000" y="1534390"/>
            <a:ext cx="6371739" cy="456161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dirty="0" smtClean="0"/>
              <a:t/>
            </a:r>
            <a:br>
              <a:rPr lang="en-US" dirty="0" smtClean="0"/>
            </a:br>
            <a:r>
              <a:rPr lang="en-US" dirty="0" smtClean="0"/>
              <a:t> Reports page: </a:t>
            </a:r>
            <a:endParaRPr lang="en-US" dirty="0"/>
          </a:p>
        </p:txBody>
      </p:sp>
      <p:pic>
        <p:nvPicPr>
          <p:cNvPr id="7171" name="Picture 3"/>
          <p:cNvPicPr>
            <a:picLocks noChangeAspect="1" noChangeArrowheads="1"/>
          </p:cNvPicPr>
          <p:nvPr/>
        </p:nvPicPr>
        <p:blipFill>
          <a:blip r:embed="rId2"/>
          <a:srcRect/>
          <a:stretch>
            <a:fillRect/>
          </a:stretch>
        </p:blipFill>
        <p:spPr bwMode="auto">
          <a:xfrm>
            <a:off x="990601" y="1824038"/>
            <a:ext cx="7315200" cy="4119562"/>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endParaRPr lang="en-US" dirty="0"/>
          </a:p>
        </p:txBody>
      </p:sp>
      <p:sp>
        <p:nvSpPr>
          <p:cNvPr id="3" name="Content Placeholder 2"/>
          <p:cNvSpPr>
            <a:spLocks noGrp="1"/>
          </p:cNvSpPr>
          <p:nvPr>
            <p:ph idx="1"/>
          </p:nvPr>
        </p:nvSpPr>
        <p:spPr/>
        <p:txBody>
          <a:bodyPr>
            <a:normAutofit/>
          </a:bodyPr>
          <a:lstStyle/>
          <a:p>
            <a:r>
              <a:rPr lang="en-US" sz="2800" b="1" dirty="0" smtClean="0">
                <a:latin typeface="Times New Roman" pitchFamily="18" charset="0"/>
                <a:cs typeface="Times New Roman" pitchFamily="18" charset="0"/>
              </a:rPr>
              <a:t>In conclusion, we have developed a web-based student mark list management system using PHP.</a:t>
            </a:r>
          </a:p>
          <a:p>
            <a:r>
              <a:rPr lang="en-US" sz="2800" b="1" dirty="0" smtClean="0">
                <a:latin typeface="Times New Roman" pitchFamily="18" charset="0"/>
                <a:cs typeface="Times New Roman" pitchFamily="18" charset="0"/>
              </a:rPr>
              <a:t>The system will provide a number of benefits for teachers and administrators, including increased efficiency, improved accuracy, and increased flexibility.</a:t>
            </a:r>
          </a:p>
          <a:p>
            <a:r>
              <a:rPr lang="en-US" sz="2800" b="1" dirty="0" smtClean="0">
                <a:latin typeface="Times New Roman" pitchFamily="18" charset="0"/>
                <a:cs typeface="Times New Roman" pitchFamily="18" charset="0"/>
              </a:rPr>
              <a:t>We believe that this system will be a valuable tool for schools and departments that are looking to improve the management of student mark data.</a:t>
            </a:r>
          </a:p>
          <a:p>
            <a:endParaRPr lang="en-US" dirty="0"/>
          </a:p>
        </p:txBody>
      </p:sp>
    </p:spTree>
  </p:cSld>
  <p:clrMapOvr>
    <a:masterClrMapping/>
  </p:clrMapOvr>
  <p:transition>
    <p:blinds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References</a:t>
            </a:r>
            <a:endParaRPr lang="en-US" dirty="0"/>
          </a:p>
        </p:txBody>
      </p:sp>
      <p:sp>
        <p:nvSpPr>
          <p:cNvPr id="3" name="Content Placeholder 2"/>
          <p:cNvSpPr>
            <a:spLocks noGrp="1"/>
          </p:cNvSpPr>
          <p:nvPr>
            <p:ph idx="1"/>
          </p:nvPr>
        </p:nvSpPr>
        <p:spPr/>
        <p:txBody>
          <a:bodyPr/>
          <a:lstStyle/>
          <a:p>
            <a:r>
              <a:rPr lang="en-US" b="1" i="1" dirty="0" smtClean="0">
                <a:latin typeface="Times New Roman" pitchFamily="18" charset="0"/>
                <a:cs typeface="Times New Roman" pitchFamily="18" charset="0"/>
              </a:rPr>
              <a:t>[1] "PHP Tutorial." W3Schools, www.w3schools.com/php/.</a:t>
            </a:r>
          </a:p>
          <a:p>
            <a:r>
              <a:rPr lang="en-US" b="1" i="1" dirty="0" smtClean="0">
                <a:latin typeface="Times New Roman" pitchFamily="18" charset="0"/>
                <a:cs typeface="Times New Roman" pitchFamily="18" charset="0"/>
              </a:rPr>
              <a:t>[2] "</a:t>
            </a:r>
            <a:r>
              <a:rPr lang="en-US" b="1" i="1" dirty="0" err="1" smtClean="0">
                <a:latin typeface="Times New Roman" pitchFamily="18" charset="0"/>
                <a:cs typeface="Times New Roman" pitchFamily="18" charset="0"/>
              </a:rPr>
              <a:t>MySQL</a:t>
            </a:r>
            <a:r>
              <a:rPr lang="en-US" b="1" i="1" dirty="0" smtClean="0">
                <a:latin typeface="Times New Roman" pitchFamily="18" charset="0"/>
                <a:cs typeface="Times New Roman" pitchFamily="18" charset="0"/>
              </a:rPr>
              <a:t> Tutorial." W3Schools, www.w3schools.com/sql/.</a:t>
            </a:r>
          </a:p>
          <a:p>
            <a:r>
              <a:rPr lang="en-US" b="1" i="1" dirty="0" smtClean="0">
                <a:latin typeface="Times New Roman" pitchFamily="18" charset="0"/>
                <a:cs typeface="Times New Roman" pitchFamily="18" charset="0"/>
              </a:rPr>
              <a:t>[3] "HTML Tutorial." W3Schools, www.w3schools.com/html/.</a:t>
            </a:r>
          </a:p>
          <a:p>
            <a:r>
              <a:rPr lang="en-US" b="1" i="1" dirty="0" smtClean="0">
                <a:latin typeface="Times New Roman" pitchFamily="18" charset="0"/>
                <a:cs typeface="Times New Roman" pitchFamily="18" charset="0"/>
              </a:rPr>
              <a:t>[4] "CSS Tutorial." W3Schools, www.w3schools.com/css/.</a:t>
            </a:r>
          </a:p>
          <a:p>
            <a:endParaRPr lang="en-US" dirty="0"/>
          </a:p>
        </p:txBody>
      </p:sp>
    </p:spTree>
  </p:cSld>
  <p:clrMapOvr>
    <a:masterClrMapping/>
  </p:clrMapOvr>
  <p:transition>
    <p:fade thruBlk="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Tree>
  </p:cSld>
  <p:clrMapOvr>
    <a:masterClrMapping/>
  </p:clrMapOvr>
  <p:transition>
    <p:randomBar dir="ver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48</TotalTime>
  <Words>607</Words>
  <Application>Microsoft Office PowerPoint</Application>
  <PresentationFormat>On-screen Show (4:3)</PresentationFormat>
  <Paragraphs>67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Flow</vt:lpstr>
      <vt:lpstr>Web Based Student Mark List Management System Using PHP </vt:lpstr>
      <vt:lpstr>PONDICHERRY  UNIVERSITY COMMUNITY  COLLEGE</vt:lpstr>
      <vt:lpstr>Introduction</vt:lpstr>
      <vt:lpstr>EXISTING SYSTEM</vt:lpstr>
      <vt:lpstr>DRAWBACKS OF THE EXISTING SYSTEM</vt:lpstr>
      <vt:lpstr>Proposed System:  </vt:lpstr>
      <vt:lpstr>System Requirements</vt:lpstr>
      <vt:lpstr>System Architecture</vt:lpstr>
      <vt:lpstr>System Features</vt:lpstr>
      <vt:lpstr>System Benefits</vt:lpstr>
      <vt:lpstr>       Database Design: </vt:lpstr>
      <vt:lpstr>  SCREEN SHOTS – LOGIN PAGE</vt:lpstr>
      <vt:lpstr>Course page:  </vt:lpstr>
      <vt:lpstr>                                                                     Add Subject Page:  </vt:lpstr>
      <vt:lpstr>Add Students Page:  </vt:lpstr>
      <vt:lpstr>Exam Registration Page  </vt:lpstr>
      <vt:lpstr>   Reports page: </vt:lpstr>
      <vt:lpstr>Conclusion</vt:lpstr>
      <vt:lpstr>References</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Based Student Mark List Management System Using PHP </dc:title>
  <dc:creator>TANGARAJ A</dc:creator>
  <cp:lastModifiedBy>TANGARAJ A</cp:lastModifiedBy>
  <cp:revision>12</cp:revision>
  <dcterms:created xsi:type="dcterms:W3CDTF">2006-08-16T00:00:00Z</dcterms:created>
  <dcterms:modified xsi:type="dcterms:W3CDTF">2023-06-02T02:31:07Z</dcterms:modified>
</cp:coreProperties>
</file>